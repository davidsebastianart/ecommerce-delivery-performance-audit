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" charset="1" panose="00000500000000000000"/>
      <p:regular r:id="rId18"/>
    </p:embeddedFont>
    <p:embeddedFont>
      <p:font typeface="Lato" charset="1" panose="020F0502020204030203"/>
      <p:regular r:id="rId19"/>
    </p:embeddedFont>
    <p:embeddedFont>
      <p:font typeface="Lato Bold" charset="1" panose="020F0502020204030203"/>
      <p:regular r:id="rId20"/>
    </p:embeddedFont>
    <p:embeddedFont>
      <p:font typeface="Poppins Bold" charset="1" panose="00000800000000000000"/>
      <p:regular r:id="rId21"/>
    </p:embeddedFont>
    <p:embeddedFont>
      <p:font typeface="Lato Italics" charset="1" panose="020F05020202040302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5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5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cs.google.com/spreadsheets/d/1I5bWdn3f6qGWsPNl63Y63PZEWlI40LFcdfmLyGDjiW8/edit?usp=sharing" TargetMode="External" Type="http://schemas.openxmlformats.org/officeDocument/2006/relationships/hyperlink"/><Relationship Id="rId3" Target="https://public.tableau.com/views/E-commerceSupplyChain/Dashboard?:language=en-US&amp;:sid=&amp;:redirect=auth&amp;:display_count=n&amp;:origin=viz_share_link" TargetMode="External" Type="http://schemas.openxmlformats.org/officeDocument/2006/relationships/hyperlink"/><Relationship Id="rId4" Target="https://github.com/davidsebastianart/ecommerce-delivery-performance-audit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363152" y="2766308"/>
            <a:ext cx="13561695" cy="4754385"/>
            <a:chOff x="0" y="0"/>
            <a:chExt cx="18082260" cy="633918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18082260" cy="2883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80"/>
                </a:lnSpc>
              </a:pPr>
              <a:r>
                <a:rPr lang="en-US" sz="72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E-Commerce Supply Chain:</a:t>
              </a:r>
            </a:p>
            <a:p>
              <a:pPr algn="ctr">
                <a:lnSpc>
                  <a:spcPts val="8280"/>
                </a:lnSpc>
              </a:pPr>
              <a:r>
                <a:rPr lang="en-US" sz="7200">
                  <a:solidFill>
                    <a:srgbClr val="A855F7"/>
                  </a:solidFill>
                  <a:latin typeface="Poppins"/>
                  <a:ea typeface="Poppins"/>
                  <a:cs typeface="Poppins"/>
                  <a:sym typeface="Poppins"/>
                </a:rPr>
                <a:t>Delivery Performance Audit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30530" y="3070619"/>
              <a:ext cx="17221200" cy="9066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0"/>
                </a:lnSpc>
              </a:pPr>
              <a:r>
                <a:rPr lang="en-US" sz="2925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Root Cause Analysis of Late Deliveries &amp; Operational Bottlenecks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30530" y="5025034"/>
              <a:ext cx="17221200" cy="765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60"/>
                </a:lnSpc>
              </a:pPr>
              <a:r>
                <a:rPr lang="en-US" sz="2475" b="true">
                  <a:solidFill>
                    <a:srgbClr val="1E293B"/>
                  </a:solidFill>
                  <a:latin typeface="Lato Bold"/>
                  <a:ea typeface="Lato Bold"/>
                  <a:cs typeface="Lato Bold"/>
                  <a:sym typeface="Lato Bold"/>
                </a:rPr>
                <a:t>David Sebastian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0530" y="5704878"/>
              <a:ext cx="17221200" cy="6343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40"/>
                </a:lnSpc>
              </a:pPr>
              <a:r>
                <a:rPr lang="en-US" sz="2025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Data Analyst | July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55203" y="2830211"/>
            <a:ext cx="9977593" cy="5698265"/>
            <a:chOff x="0" y="0"/>
            <a:chExt cx="13303458" cy="759768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1849100" cy="1044245"/>
              <a:chOff x="0" y="0"/>
              <a:chExt cx="11849100" cy="104424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849100" cy="1044248"/>
              </a:xfrm>
              <a:custGeom>
                <a:avLst/>
                <a:gdLst/>
                <a:ahLst/>
                <a:cxnLst/>
                <a:rect r="r" b="b" t="t" l="l"/>
                <a:pathLst>
                  <a:path h="1044248" w="11849100">
                    <a:moveTo>
                      <a:pt x="0" y="0"/>
                    </a:moveTo>
                    <a:lnTo>
                      <a:pt x="11849100" y="0"/>
                    </a:lnTo>
                    <a:lnTo>
                      <a:pt x="11849100" y="1044248"/>
                    </a:lnTo>
                    <a:lnTo>
                      <a:pt x="0" y="10442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0236" r="0" b="-161957"/>
                </a:stretch>
              </a:blip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142875"/>
                <a:ext cx="11849100" cy="11871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038"/>
                  </a:lnSpc>
                </a:pPr>
                <a:r>
                  <a:rPr lang="en-US" sz="3150">
                    <a:solidFill>
                      <a:srgbClr val="E2E8F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01</a:t>
                </a:r>
                <a:r>
                  <a:rPr lang="en-US" sz="3150">
                    <a:solidFill>
                      <a:srgbClr val="1E293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Business Context &amp; Objectives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1425067"/>
              <a:ext cx="11849100" cy="1044245"/>
              <a:chOff x="0" y="0"/>
              <a:chExt cx="11849100" cy="104424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849100" cy="1044248"/>
              </a:xfrm>
              <a:custGeom>
                <a:avLst/>
                <a:gdLst/>
                <a:ahLst/>
                <a:cxnLst/>
                <a:rect r="r" b="b" t="t" l="l"/>
                <a:pathLst>
                  <a:path h="1044248" w="11849100">
                    <a:moveTo>
                      <a:pt x="0" y="0"/>
                    </a:moveTo>
                    <a:lnTo>
                      <a:pt x="11849100" y="0"/>
                    </a:lnTo>
                    <a:lnTo>
                      <a:pt x="11849100" y="1044248"/>
                    </a:lnTo>
                    <a:lnTo>
                      <a:pt x="0" y="10442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0236" r="0" b="-161957"/>
                </a:stretch>
              </a:blip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42875"/>
                <a:ext cx="11849100" cy="11871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038"/>
                  </a:lnSpc>
                </a:pPr>
                <a:r>
                  <a:rPr lang="en-US" sz="3150">
                    <a:solidFill>
                      <a:srgbClr val="E2E8F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02</a:t>
                </a:r>
                <a:r>
                  <a:rPr lang="en-US" sz="3150">
                    <a:solidFill>
                      <a:srgbClr val="1E293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Tech Stack &amp; Data Preparation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2850312"/>
              <a:ext cx="11849100" cy="853376"/>
              <a:chOff x="0" y="0"/>
              <a:chExt cx="11849100" cy="85337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849100" cy="853380"/>
              </a:xfrm>
              <a:custGeom>
                <a:avLst/>
                <a:gdLst/>
                <a:ahLst/>
                <a:cxnLst/>
                <a:rect r="r" b="b" t="t" l="l"/>
                <a:pathLst>
                  <a:path h="853380" w="11849100">
                    <a:moveTo>
                      <a:pt x="0" y="0"/>
                    </a:moveTo>
                    <a:lnTo>
                      <a:pt x="11849100" y="0"/>
                    </a:lnTo>
                    <a:lnTo>
                      <a:pt x="11849100" y="853380"/>
                    </a:lnTo>
                    <a:lnTo>
                      <a:pt x="0" y="8533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20548" r="0" b="-220547"/>
                </a:stretch>
              </a:blip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42875"/>
                <a:ext cx="11849100" cy="99625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038"/>
                  </a:lnSpc>
                </a:pPr>
                <a:r>
                  <a:rPr lang="en-US" sz="3150">
                    <a:solidFill>
                      <a:srgbClr val="E2E8F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03</a:t>
                </a:r>
                <a:r>
                  <a:rPr lang="en-US" sz="3150">
                    <a:solidFill>
                      <a:srgbClr val="1E293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The Delivery Crisis: Macro Overview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4084688"/>
              <a:ext cx="11849100" cy="853376"/>
              <a:chOff x="0" y="0"/>
              <a:chExt cx="11849100" cy="85337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849100" cy="853380"/>
              </a:xfrm>
              <a:custGeom>
                <a:avLst/>
                <a:gdLst/>
                <a:ahLst/>
                <a:cxnLst/>
                <a:rect r="r" b="b" t="t" l="l"/>
                <a:pathLst>
                  <a:path h="853380" w="11849100">
                    <a:moveTo>
                      <a:pt x="0" y="0"/>
                    </a:moveTo>
                    <a:lnTo>
                      <a:pt x="11849100" y="0"/>
                    </a:lnTo>
                    <a:lnTo>
                      <a:pt x="11849100" y="853380"/>
                    </a:lnTo>
                    <a:lnTo>
                      <a:pt x="0" y="8533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20548" r="0" b="-220547"/>
                </a:stretch>
              </a:blip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42875"/>
                <a:ext cx="11849100" cy="99625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038"/>
                  </a:lnSpc>
                </a:pPr>
                <a:r>
                  <a:rPr lang="en-US" sz="3150">
                    <a:solidFill>
                      <a:srgbClr val="E2E8F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04</a:t>
                </a:r>
                <a:r>
                  <a:rPr lang="en-US" sz="3150">
                    <a:solidFill>
                      <a:srgbClr val="1E293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Key Insights (Priority, Promotions &amp; Cost)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5319065"/>
              <a:ext cx="13303458" cy="1044245"/>
              <a:chOff x="0" y="0"/>
              <a:chExt cx="13303458" cy="104424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303458" cy="1044248"/>
              </a:xfrm>
              <a:custGeom>
                <a:avLst/>
                <a:gdLst/>
                <a:ahLst/>
                <a:cxnLst/>
                <a:rect r="r" b="b" t="t" l="l"/>
                <a:pathLst>
                  <a:path h="1044248" w="13303458">
                    <a:moveTo>
                      <a:pt x="0" y="0"/>
                    </a:moveTo>
                    <a:lnTo>
                      <a:pt x="13303458" y="0"/>
                    </a:lnTo>
                    <a:lnTo>
                      <a:pt x="13303458" y="1044248"/>
                    </a:lnTo>
                    <a:lnTo>
                      <a:pt x="0" y="104424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0236" r="10932" b="-161957"/>
                </a:stretch>
              </a:blip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42875"/>
                <a:ext cx="13303458" cy="118712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038"/>
                  </a:lnSpc>
                </a:pPr>
                <a:r>
                  <a:rPr lang="en-US" sz="3150">
                    <a:solidFill>
                      <a:srgbClr val="E2E8F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05</a:t>
                </a:r>
                <a:r>
                  <a:rPr lang="en-US" sz="3150">
                    <a:solidFill>
                      <a:srgbClr val="1E293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Data-Driven Strategic Recommendations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6744310"/>
              <a:ext cx="11849100" cy="853376"/>
              <a:chOff x="0" y="0"/>
              <a:chExt cx="11849100" cy="85337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849100" cy="853380"/>
              </a:xfrm>
              <a:custGeom>
                <a:avLst/>
                <a:gdLst/>
                <a:ahLst/>
                <a:cxnLst/>
                <a:rect r="r" b="b" t="t" l="l"/>
                <a:pathLst>
                  <a:path h="853380" w="11849100">
                    <a:moveTo>
                      <a:pt x="0" y="0"/>
                    </a:moveTo>
                    <a:lnTo>
                      <a:pt x="11849100" y="0"/>
                    </a:lnTo>
                    <a:lnTo>
                      <a:pt x="11849100" y="853380"/>
                    </a:lnTo>
                    <a:lnTo>
                      <a:pt x="0" y="8533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20548" r="0" b="-220547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42875"/>
                <a:ext cx="11849100" cy="99625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5038"/>
                  </a:lnSpc>
                </a:pPr>
                <a:r>
                  <a:rPr lang="en-US" sz="3150">
                    <a:solidFill>
                      <a:srgbClr val="E2E8F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06</a:t>
                </a:r>
                <a:r>
                  <a:rPr lang="en-US" sz="3150">
                    <a:solidFill>
                      <a:srgbClr val="1E293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Conclusion</a:t>
                </a:r>
              </a:p>
            </p:txBody>
          </p:sp>
        </p:grpSp>
      </p:grpSp>
      <p:sp>
        <p:nvSpPr>
          <p:cNvPr name="TextBox 23" id="23"/>
          <p:cNvSpPr txBox="true"/>
          <p:nvPr/>
        </p:nvSpPr>
        <p:spPr>
          <a:xfrm rot="0">
            <a:off x="742950" y="981075"/>
            <a:ext cx="168021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495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3781782"/>
            <a:ext cx="6487062" cy="294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logistics division is experiencing a critical inflation in operational costs coupled with declining customer satisfaction. Initial reports suggest this is driven by an unacceptably high rate of </a:t>
            </a:r>
            <a:r>
              <a:rPr lang="en-US" sz="2475" b="true">
                <a:solidFill>
                  <a:srgbClr val="A855F7"/>
                </a:solidFill>
                <a:latin typeface="Lato Bold"/>
                <a:ea typeface="Lato Bold"/>
                <a:cs typeface="Lato Bold"/>
                <a:sym typeface="Lato Bold"/>
              </a:rPr>
              <a:t>late deliveries</a:t>
            </a: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a resulting surge in customer service inquiries.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0109" y="2924532"/>
            <a:ext cx="655030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A855F7"/>
                </a:solidFill>
                <a:latin typeface="Poppins Bold"/>
                <a:ea typeface="Poppins Bold"/>
                <a:cs typeface="Poppins Bold"/>
                <a:sym typeface="Poppins Bold"/>
              </a:rPr>
              <a:t>The Pain Point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005495"/>
            <a:ext cx="391672" cy="457200"/>
            <a:chOff x="0" y="0"/>
            <a:chExt cx="522229" cy="6096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22229" cy="609600"/>
            </a:xfrm>
            <a:custGeom>
              <a:avLst/>
              <a:gdLst/>
              <a:ahLst/>
              <a:cxnLst/>
              <a:rect r="r" b="b" t="t" l="l"/>
              <a:pathLst>
                <a:path h="609600" w="522229">
                  <a:moveTo>
                    <a:pt x="0" y="0"/>
                  </a:moveTo>
                  <a:lnTo>
                    <a:pt x="522229" y="0"/>
                  </a:lnTo>
                  <a:lnTo>
                    <a:pt x="522229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596" t="0" r="-659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121971" y="2924532"/>
            <a:ext cx="713732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3B82F6"/>
                </a:solidFill>
                <a:latin typeface="Poppins Bold"/>
                <a:ea typeface="Poppins Bold"/>
                <a:cs typeface="Poppins Bold"/>
                <a:sym typeface="Poppins Bold"/>
              </a:rPr>
              <a:t>Key Objectives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44050" y="3005495"/>
            <a:ext cx="426773" cy="457200"/>
            <a:chOff x="0" y="0"/>
            <a:chExt cx="569030" cy="6096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569030" cy="609600"/>
            </a:xfrm>
            <a:custGeom>
              <a:avLst/>
              <a:gdLst/>
              <a:ahLst/>
              <a:cxnLst/>
              <a:rect r="r" b="b" t="t" l="l"/>
              <a:pathLst>
                <a:path h="609600" w="569030">
                  <a:moveTo>
                    <a:pt x="0" y="0"/>
                  </a:moveTo>
                  <a:lnTo>
                    <a:pt x="569030" y="0"/>
                  </a:lnTo>
                  <a:lnTo>
                    <a:pt x="56903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41" t="0" r="-1941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44149" y="3781782"/>
            <a:ext cx="6668323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Establish the true On-Time Delivery (OTD) failure rate across all shipments.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44149" y="5073020"/>
            <a:ext cx="6668323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Identify correlations between logistics dimensions (shipment mode, priority) and delays.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44149" y="6861815"/>
            <a:ext cx="6668323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Quantify the operational cost impact of late shipments on Customer Care resources.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44050" y="3905607"/>
            <a:ext cx="186713" cy="328612"/>
            <a:chOff x="0" y="0"/>
            <a:chExt cx="248951" cy="4381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48951" cy="438150"/>
            </a:xfrm>
            <a:custGeom>
              <a:avLst/>
              <a:gdLst/>
              <a:ahLst/>
              <a:cxnLst/>
              <a:rect r="r" b="b" t="t" l="l"/>
              <a:pathLst>
                <a:path h="438150" w="248951">
                  <a:moveTo>
                    <a:pt x="0" y="0"/>
                  </a:moveTo>
                  <a:lnTo>
                    <a:pt x="248951" y="0"/>
                  </a:lnTo>
                  <a:lnTo>
                    <a:pt x="248951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564" t="0" r="-3564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44050" y="5196845"/>
            <a:ext cx="186713" cy="328612"/>
            <a:chOff x="0" y="0"/>
            <a:chExt cx="248951" cy="4381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48951" cy="438150"/>
            </a:xfrm>
            <a:custGeom>
              <a:avLst/>
              <a:gdLst/>
              <a:ahLst/>
              <a:cxnLst/>
              <a:rect r="r" b="b" t="t" l="l"/>
              <a:pathLst>
                <a:path h="438150" w="248951">
                  <a:moveTo>
                    <a:pt x="0" y="0"/>
                  </a:moveTo>
                  <a:lnTo>
                    <a:pt x="248951" y="0"/>
                  </a:lnTo>
                  <a:lnTo>
                    <a:pt x="248951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564" t="0" r="-3564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44050" y="6985640"/>
            <a:ext cx="186713" cy="328612"/>
            <a:chOff x="0" y="0"/>
            <a:chExt cx="248951" cy="4381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248951" cy="438150"/>
            </a:xfrm>
            <a:custGeom>
              <a:avLst/>
              <a:gdLst/>
              <a:ahLst/>
              <a:cxnLst/>
              <a:rect r="r" b="b" t="t" l="l"/>
              <a:pathLst>
                <a:path h="438150" w="248951">
                  <a:moveTo>
                    <a:pt x="0" y="0"/>
                  </a:moveTo>
                  <a:lnTo>
                    <a:pt x="248951" y="0"/>
                  </a:lnTo>
                  <a:lnTo>
                    <a:pt x="248951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564" t="0" r="-3564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700" y="981075"/>
            <a:ext cx="168021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Business Context &amp; 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2412359"/>
            <a:ext cx="7572375" cy="6962480"/>
            <a:chOff x="0" y="0"/>
            <a:chExt cx="10096500" cy="9283306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096500" cy="9283319"/>
            </a:xfrm>
            <a:custGeom>
              <a:avLst/>
              <a:gdLst/>
              <a:ahLst/>
              <a:cxnLst/>
              <a:rect r="r" b="b" t="t" l="l"/>
              <a:pathLst>
                <a:path h="9283319" w="10096500">
                  <a:moveTo>
                    <a:pt x="0" y="0"/>
                  </a:moveTo>
                  <a:lnTo>
                    <a:pt x="10096500" y="0"/>
                  </a:lnTo>
                  <a:lnTo>
                    <a:pt x="10096500" y="9283319"/>
                  </a:lnTo>
                  <a:lnTo>
                    <a:pt x="0" y="9283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3" r="0" b="-17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72625" y="2412359"/>
            <a:ext cx="7572375" cy="6962480"/>
            <a:chOff x="0" y="0"/>
            <a:chExt cx="10096500" cy="928330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096500" cy="9283319"/>
            </a:xfrm>
            <a:custGeom>
              <a:avLst/>
              <a:gdLst/>
              <a:ahLst/>
              <a:cxnLst/>
              <a:rect r="r" b="b" t="t" l="l"/>
              <a:pathLst>
                <a:path h="9283319" w="10096500">
                  <a:moveTo>
                    <a:pt x="0" y="0"/>
                  </a:moveTo>
                  <a:lnTo>
                    <a:pt x="10096500" y="0"/>
                  </a:lnTo>
                  <a:lnTo>
                    <a:pt x="10096500" y="9283319"/>
                  </a:lnTo>
                  <a:lnTo>
                    <a:pt x="0" y="9283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3" r="0" b="-17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28787" y="2979096"/>
            <a:ext cx="6720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A855F7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&amp; Validation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8788" y="3717284"/>
            <a:ext cx="6400800" cy="160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Handled schema parsing errors by sanitizing headers via </a:t>
            </a:r>
            <a:r>
              <a:rPr lang="en-US" sz="2475" b="true">
                <a:solidFill>
                  <a:srgbClr val="475569"/>
                </a:solidFill>
                <a:latin typeface="Lato Bold"/>
                <a:ea typeface="Lato Bold"/>
                <a:cs typeface="Lato Bold"/>
                <a:sym typeface="Lato Bold"/>
              </a:rPr>
              <a:t>Google Sheets</a:t>
            </a: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prior to database ingestion to ensure structural integrity.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58412" y="2979096"/>
            <a:ext cx="67208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3B82F6"/>
                </a:solidFill>
                <a:latin typeface="Poppins Bold"/>
                <a:ea typeface="Poppins Bold"/>
                <a:cs typeface="Poppins Bold"/>
                <a:sym typeface="Poppins Bold"/>
              </a:rPr>
              <a:t>Transformation &amp; Visualization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58412" y="3717284"/>
            <a:ext cx="640080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Leveraged </a:t>
            </a:r>
            <a:r>
              <a:rPr lang="en-US" sz="2475" b="true">
                <a:solidFill>
                  <a:srgbClr val="475569"/>
                </a:solidFill>
                <a:latin typeface="Lato Bold"/>
                <a:ea typeface="Lato Bold"/>
                <a:cs typeface="Lato Bold"/>
                <a:sym typeface="Lato Bold"/>
              </a:rPr>
              <a:t>Google BigQuery (SQL)</a:t>
            </a: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engineer commercial metrics and categorical variables.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7412" y="5511251"/>
            <a:ext cx="5972175" cy="59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Validated missing values &amp; duplicate IDs.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7412" y="6299749"/>
            <a:ext cx="5972175" cy="110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Checked numerical outliers (weights, discounts).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87038" y="5511251"/>
            <a:ext cx="5972175" cy="110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Aggregated late delivery rates using SQL logic.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87038" y="6899824"/>
            <a:ext cx="5972175" cy="160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Designed an interactive Executive Dashboard utilizing </a:t>
            </a:r>
            <a:r>
              <a:rPr lang="en-US" sz="2475" b="true">
                <a:solidFill>
                  <a:srgbClr val="475569"/>
                </a:solidFill>
                <a:latin typeface="Lato Bold"/>
                <a:ea typeface="Lato Bold"/>
                <a:cs typeface="Lato Bold"/>
                <a:sym typeface="Lato Bold"/>
              </a:rPr>
              <a:t>Tableau Public</a:t>
            </a: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stakeholder reporting.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81075"/>
            <a:ext cx="168021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Tech Stack &amp; Data Preparation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28788" y="5635076"/>
            <a:ext cx="200025" cy="328612"/>
            <a:chOff x="0" y="0"/>
            <a:chExt cx="266700" cy="4381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266700" cy="438150"/>
            </a:xfrm>
            <a:custGeom>
              <a:avLst/>
              <a:gdLst/>
              <a:ahLst/>
              <a:cxnLst/>
              <a:rect r="r" b="b" t="t" l="l"/>
              <a:pathLst>
                <a:path h="4381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28788" y="6423574"/>
            <a:ext cx="200025" cy="328612"/>
            <a:chOff x="0" y="0"/>
            <a:chExt cx="266700" cy="4381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266700" cy="438150"/>
            </a:xfrm>
            <a:custGeom>
              <a:avLst/>
              <a:gdLst/>
              <a:ahLst/>
              <a:cxnLst/>
              <a:rect r="r" b="b" t="t" l="l"/>
              <a:pathLst>
                <a:path h="4381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158412" y="5635076"/>
            <a:ext cx="200025" cy="328612"/>
            <a:chOff x="0" y="0"/>
            <a:chExt cx="266700" cy="4381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266700" cy="438150"/>
            </a:xfrm>
            <a:custGeom>
              <a:avLst/>
              <a:gdLst/>
              <a:ahLst/>
              <a:cxnLst/>
              <a:rect r="r" b="b" t="t" l="l"/>
              <a:pathLst>
                <a:path h="4381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158412" y="7023649"/>
            <a:ext cx="200025" cy="328612"/>
            <a:chOff x="0" y="0"/>
            <a:chExt cx="266700" cy="4381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266700" cy="438150"/>
            </a:xfrm>
            <a:custGeom>
              <a:avLst/>
              <a:gdLst/>
              <a:ahLst/>
              <a:cxnLst/>
              <a:rect r="r" b="b" t="t" l="l"/>
              <a:pathLst>
                <a:path h="4381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2928938"/>
            <a:ext cx="5048174" cy="3157538"/>
            <a:chOff x="0" y="0"/>
            <a:chExt cx="6730898" cy="421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730873" cy="4210050"/>
            </a:xfrm>
            <a:custGeom>
              <a:avLst/>
              <a:gdLst/>
              <a:ahLst/>
              <a:cxnLst/>
              <a:rect r="r" b="b" t="t" l="l"/>
              <a:pathLst>
                <a:path h="4210050" w="6730873">
                  <a:moveTo>
                    <a:pt x="0" y="0"/>
                  </a:moveTo>
                  <a:lnTo>
                    <a:pt x="6730873" y="0"/>
                  </a:lnTo>
                  <a:lnTo>
                    <a:pt x="6730873" y="4210050"/>
                  </a:lnTo>
                  <a:lnTo>
                    <a:pt x="0" y="421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5" t="0" r="-9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19799" y="2928938"/>
            <a:ext cx="5048174" cy="3157538"/>
            <a:chOff x="0" y="0"/>
            <a:chExt cx="6730898" cy="4210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730873" cy="4210050"/>
            </a:xfrm>
            <a:custGeom>
              <a:avLst/>
              <a:gdLst/>
              <a:ahLst/>
              <a:cxnLst/>
              <a:rect r="r" b="b" t="t" l="l"/>
              <a:pathLst>
                <a:path h="4210050" w="6730873">
                  <a:moveTo>
                    <a:pt x="0" y="0"/>
                  </a:moveTo>
                  <a:lnTo>
                    <a:pt x="6730873" y="0"/>
                  </a:lnTo>
                  <a:lnTo>
                    <a:pt x="6730873" y="4210050"/>
                  </a:lnTo>
                  <a:lnTo>
                    <a:pt x="0" y="421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5" t="0" r="-9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96598" y="2928938"/>
            <a:ext cx="5048174" cy="3157538"/>
            <a:chOff x="0" y="0"/>
            <a:chExt cx="6730898" cy="4210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730873" cy="4210050"/>
            </a:xfrm>
            <a:custGeom>
              <a:avLst/>
              <a:gdLst/>
              <a:ahLst/>
              <a:cxnLst/>
              <a:rect r="r" b="b" t="t" l="l"/>
              <a:pathLst>
                <a:path h="4210050" w="6730873">
                  <a:moveTo>
                    <a:pt x="0" y="0"/>
                  </a:moveTo>
                  <a:lnTo>
                    <a:pt x="6730873" y="0"/>
                  </a:lnTo>
                  <a:lnTo>
                    <a:pt x="6730873" y="4210050"/>
                  </a:lnTo>
                  <a:lnTo>
                    <a:pt x="0" y="421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5" t="0" r="-9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00250" y="6962775"/>
            <a:ext cx="14287500" cy="160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staggering </a:t>
            </a:r>
            <a:r>
              <a:rPr lang="en-US" sz="2475" b="true">
                <a:solidFill>
                  <a:srgbClr val="A855F7"/>
                </a:solidFill>
                <a:latin typeface="Lato Bold"/>
                <a:ea typeface="Lato Bold"/>
                <a:cs typeface="Lato Bold"/>
                <a:sym typeface="Lato Bold"/>
              </a:rPr>
              <a:t>59.67%</a:t>
            </a: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of all shipments fail to meet their delivery Service Level Agreements (SLA). Consequently, this failure rate has forced nearly 11,000 customers to generate over </a:t>
            </a:r>
            <a:r>
              <a:rPr lang="en-US" sz="2475" b="true">
                <a:solidFill>
                  <a:srgbClr val="475569"/>
                </a:solidFill>
                <a:latin typeface="Lato Bold"/>
                <a:ea typeface="Lato Bold"/>
                <a:cs typeface="Lato Bold"/>
                <a:sym typeface="Lato Bold"/>
              </a:rPr>
              <a:t>44,000 inbound calls</a:t>
            </a: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the support center, crippling operational cost efficiency.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1852" y="3486150"/>
            <a:ext cx="437047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475569"/>
                </a:solidFill>
                <a:latin typeface="Poppins Bold"/>
                <a:ea typeface="Poppins Bold"/>
                <a:cs typeface="Poppins Bold"/>
                <a:sym typeface="Poppins Bold"/>
              </a:rPr>
              <a:t>TOTAL SHIPMENTS AUDITED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79004" y="4224337"/>
            <a:ext cx="2776165" cy="10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10,999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8651" y="3486150"/>
            <a:ext cx="437047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475569"/>
                </a:solidFill>
                <a:latin typeface="Poppins Bold"/>
                <a:ea typeface="Poppins Bold"/>
                <a:cs typeface="Poppins Bold"/>
                <a:sym typeface="Poppins Bold"/>
              </a:rPr>
              <a:t>LATE DELIVERY RATE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62711" y="4224337"/>
            <a:ext cx="416234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59.67%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35459" y="3486150"/>
            <a:ext cx="437047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475569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CARE CALLS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39510" y="4224337"/>
            <a:ext cx="416234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44,595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2950" y="981075"/>
            <a:ext cx="168021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495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The Delivery Crisis: Macro Overview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2069147"/>
            <a:ext cx="6598109" cy="135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Analyzing delivery rates by </a:t>
            </a:r>
            <a:r>
              <a:rPr lang="en-US" sz="2275" i="true">
                <a:solidFill>
                  <a:srgbClr val="475569"/>
                </a:solidFill>
                <a:latin typeface="Lato Italics"/>
                <a:ea typeface="Lato Italics"/>
                <a:cs typeface="Lato Italics"/>
                <a:sym typeface="Lato Italics"/>
              </a:rPr>
              <a:t>Mode of Shipment</a:t>
            </a: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2275" i="true">
                <a:solidFill>
                  <a:srgbClr val="475569"/>
                </a:solidFill>
                <a:latin typeface="Lato Italics"/>
                <a:ea typeface="Lato Italics"/>
                <a:cs typeface="Lato Italics"/>
                <a:sym typeface="Lato Italics"/>
              </a:rPr>
              <a:t>Product Importance</a:t>
            </a: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reveals a critical flaw in logistics routing.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1625" y="3687127"/>
            <a:ext cx="6169484" cy="89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Items marked as </a:t>
            </a:r>
            <a:r>
              <a:rPr lang="en-US" sz="2275" b="true">
                <a:solidFill>
                  <a:srgbClr val="475569"/>
                </a:solidFill>
                <a:latin typeface="Lato Bold"/>
                <a:ea typeface="Lato Bold"/>
                <a:cs typeface="Lato Bold"/>
                <a:sym typeface="Lato Bold"/>
              </a:rPr>
              <a:t>"High Priority"</a:t>
            </a: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are ironically experiencing the highest failure rates.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1625" y="4847907"/>
            <a:ext cx="6169484" cy="180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Shipments routed via </a:t>
            </a:r>
            <a:r>
              <a:rPr lang="en-US" sz="2275" b="true">
                <a:solidFill>
                  <a:srgbClr val="A855F7"/>
                </a:solidFill>
                <a:latin typeface="Lato Bold"/>
                <a:ea typeface="Lato Bold"/>
                <a:cs typeface="Lato Bold"/>
                <a:sym typeface="Lato Bold"/>
              </a:rPr>
              <a:t>Ship - High Priority (66.7% Late)</a:t>
            </a: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2275" b="true">
                <a:solidFill>
                  <a:srgbClr val="A855F7"/>
                </a:solidFill>
                <a:latin typeface="Lato Bold"/>
                <a:ea typeface="Lato Bold"/>
                <a:cs typeface="Lato Bold"/>
                <a:sym typeface="Lato Bold"/>
              </a:rPr>
              <a:t>Road - High Priority (65.2% Late)</a:t>
            </a: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are the worst-performing segments in the entire network.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7008495"/>
            <a:ext cx="6712409" cy="2249805"/>
            <a:chOff x="0" y="0"/>
            <a:chExt cx="8949879" cy="299974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949879" cy="2999740"/>
              <a:chOff x="0" y="0"/>
              <a:chExt cx="8949879" cy="2999740"/>
            </a:xfrm>
          </p:grpSpPr>
          <p:sp>
            <p:nvSpPr>
              <p:cNvPr name="Freeform 9" id="9" descr="image.png"/>
              <p:cNvSpPr/>
              <p:nvPr/>
            </p:nvSpPr>
            <p:spPr>
              <a:xfrm flipH="false" flipV="false" rot="0">
                <a:off x="0" y="0"/>
                <a:ext cx="8949879" cy="2999791"/>
              </a:xfrm>
              <a:custGeom>
                <a:avLst/>
                <a:gdLst/>
                <a:ahLst/>
                <a:cxnLst/>
                <a:rect r="r" b="b" t="t" l="l"/>
                <a:pathLst>
                  <a:path h="2999791" w="8949879">
                    <a:moveTo>
                      <a:pt x="0" y="0"/>
                    </a:moveTo>
                    <a:lnTo>
                      <a:pt x="8949879" y="0"/>
                    </a:lnTo>
                    <a:lnTo>
                      <a:pt x="8949879" y="2999791"/>
                    </a:lnTo>
                    <a:lnTo>
                      <a:pt x="0" y="299979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14834" t="-1" r="-14834" b="0"/>
                </a:stretch>
              </a:blip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506597" y="390525"/>
              <a:ext cx="8021118" cy="2132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025" b="true">
                  <a:solidFill>
                    <a:srgbClr val="475569"/>
                  </a:solidFill>
                  <a:latin typeface="Lato Bold"/>
                  <a:ea typeface="Lato Bold"/>
                  <a:cs typeface="Lato Bold"/>
                  <a:sym typeface="Lato Bold"/>
                </a:rPr>
                <a:t>Business Implication:</a:t>
              </a:r>
              <a:r>
                <a:rPr lang="en-US" sz="2025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The fulfillment center's prioritization logic is broken. Paying for "High Priority" yields worse results than medium or low priority processing.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003402"/>
            <a:ext cx="168021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The Priority Paradox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3000" y="3810952"/>
            <a:ext cx="200025" cy="328612"/>
            <a:chOff x="0" y="0"/>
            <a:chExt cx="266700" cy="4381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66700" cy="438150"/>
            </a:xfrm>
            <a:custGeom>
              <a:avLst/>
              <a:gdLst/>
              <a:ahLst/>
              <a:cxnLst/>
              <a:rect r="r" b="b" t="t" l="l"/>
              <a:pathLst>
                <a:path h="4381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43000" y="4971732"/>
            <a:ext cx="200025" cy="328612"/>
            <a:chOff x="0" y="0"/>
            <a:chExt cx="266700" cy="4381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66700" cy="438150"/>
            </a:xfrm>
            <a:custGeom>
              <a:avLst/>
              <a:gdLst/>
              <a:ahLst/>
              <a:cxnLst/>
              <a:rect r="r" b="b" t="t" l="l"/>
              <a:pathLst>
                <a:path h="4381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68467" y="2820987"/>
            <a:ext cx="7990833" cy="4645026"/>
            <a:chOff x="0" y="0"/>
            <a:chExt cx="10654444" cy="619336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654444" cy="6193368"/>
              <a:chOff x="0" y="0"/>
              <a:chExt cx="2230080" cy="129633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30080" cy="1296333"/>
              </a:xfrm>
              <a:custGeom>
                <a:avLst/>
                <a:gdLst/>
                <a:ahLst/>
                <a:cxnLst/>
                <a:rect r="r" b="b" t="t" l="l"/>
                <a:pathLst>
                  <a:path h="1296333" w="2230080">
                    <a:moveTo>
                      <a:pt x="15544" y="0"/>
                    </a:moveTo>
                    <a:lnTo>
                      <a:pt x="2214536" y="0"/>
                    </a:lnTo>
                    <a:cubicBezTo>
                      <a:pt x="2218659" y="0"/>
                      <a:pt x="2222612" y="1638"/>
                      <a:pt x="2225527" y="4553"/>
                    </a:cubicBezTo>
                    <a:cubicBezTo>
                      <a:pt x="2228442" y="7468"/>
                      <a:pt x="2230080" y="11421"/>
                      <a:pt x="2230080" y="15544"/>
                    </a:cubicBezTo>
                    <a:lnTo>
                      <a:pt x="2230080" y="1280789"/>
                    </a:lnTo>
                    <a:cubicBezTo>
                      <a:pt x="2230080" y="1284911"/>
                      <a:pt x="2228442" y="1288865"/>
                      <a:pt x="2225527" y="1291780"/>
                    </a:cubicBezTo>
                    <a:cubicBezTo>
                      <a:pt x="2222612" y="1294695"/>
                      <a:pt x="2218659" y="1296333"/>
                      <a:pt x="2214536" y="1296333"/>
                    </a:cubicBezTo>
                    <a:lnTo>
                      <a:pt x="15544" y="1296333"/>
                    </a:lnTo>
                    <a:cubicBezTo>
                      <a:pt x="11421" y="1296333"/>
                      <a:pt x="7468" y="1294695"/>
                      <a:pt x="4553" y="1291780"/>
                    </a:cubicBezTo>
                    <a:cubicBezTo>
                      <a:pt x="1638" y="1288865"/>
                      <a:pt x="0" y="1284911"/>
                      <a:pt x="0" y="1280789"/>
                    </a:cubicBezTo>
                    <a:lnTo>
                      <a:pt x="0" y="15544"/>
                    </a:lnTo>
                    <a:cubicBezTo>
                      <a:pt x="0" y="11421"/>
                      <a:pt x="1638" y="7468"/>
                      <a:pt x="4553" y="4553"/>
                    </a:cubicBezTo>
                    <a:cubicBezTo>
                      <a:pt x="7468" y="1638"/>
                      <a:pt x="11421" y="0"/>
                      <a:pt x="155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94A3B8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0"/>
                <a:ext cx="2230080" cy="13915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5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196645" y="188288"/>
              <a:ext cx="10261154" cy="5816792"/>
            </a:xfrm>
            <a:custGeom>
              <a:avLst/>
              <a:gdLst/>
              <a:ahLst/>
              <a:cxnLst/>
              <a:rect r="r" b="b" t="t" l="l"/>
              <a:pathLst>
                <a:path h="5816792" w="10261154">
                  <a:moveTo>
                    <a:pt x="0" y="0"/>
                  </a:moveTo>
                  <a:lnTo>
                    <a:pt x="10261154" y="0"/>
                  </a:lnTo>
                  <a:lnTo>
                    <a:pt x="10261154" y="5816792"/>
                  </a:lnTo>
                  <a:lnTo>
                    <a:pt x="0" y="5816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7008495"/>
            <a:ext cx="6479433" cy="2249805"/>
            <a:chOff x="0" y="0"/>
            <a:chExt cx="8639244" cy="299974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8639244" cy="2999740"/>
              <a:chOff x="0" y="0"/>
              <a:chExt cx="8639244" cy="2999740"/>
            </a:xfrm>
          </p:grpSpPr>
          <p:sp>
            <p:nvSpPr>
              <p:cNvPr name="Freeform 6" id="6" descr="image.png"/>
              <p:cNvSpPr/>
              <p:nvPr/>
            </p:nvSpPr>
            <p:spPr>
              <a:xfrm flipH="false" flipV="false" rot="0">
                <a:off x="0" y="0"/>
                <a:ext cx="8639244" cy="2999728"/>
              </a:xfrm>
              <a:custGeom>
                <a:avLst/>
                <a:gdLst/>
                <a:ahLst/>
                <a:cxnLst/>
                <a:rect r="r" b="b" t="t" l="l"/>
                <a:pathLst>
                  <a:path h="2999728" w="8639244">
                    <a:moveTo>
                      <a:pt x="0" y="0"/>
                    </a:moveTo>
                    <a:lnTo>
                      <a:pt x="8639244" y="0"/>
                    </a:lnTo>
                    <a:lnTo>
                      <a:pt x="8639244" y="2999728"/>
                    </a:lnTo>
                    <a:lnTo>
                      <a:pt x="0" y="299972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5430" t="0" r="-5430" b="0"/>
                </a:stretch>
              </a:blip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489014" y="390525"/>
              <a:ext cx="7742718" cy="2132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025" b="true">
                  <a:solidFill>
                    <a:srgbClr val="475569"/>
                  </a:solidFill>
                  <a:latin typeface="Lato Bold"/>
                  <a:ea typeface="Lato Bold"/>
                  <a:cs typeface="Lato Bold"/>
                  <a:sym typeface="Lato Bold"/>
                </a:rPr>
                <a:t>Business Implication:</a:t>
              </a:r>
              <a:r>
                <a:rPr lang="en-US" sz="2025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Sales campaigns are choking the supply chain. Warehouse SLA algorithms fail to prioritize volume spikes, relegating heavily discounted items to the back of the queue.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3000" y="3329146"/>
            <a:ext cx="200025" cy="328612"/>
            <a:chOff x="0" y="0"/>
            <a:chExt cx="266700" cy="4381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6700" cy="438150"/>
            </a:xfrm>
            <a:custGeom>
              <a:avLst/>
              <a:gdLst/>
              <a:ahLst/>
              <a:cxnLst/>
              <a:rect r="r" b="b" t="t" l="l"/>
              <a:pathLst>
                <a:path h="4381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4947126"/>
            <a:ext cx="200025" cy="328612"/>
            <a:chOff x="0" y="0"/>
            <a:chExt cx="266700" cy="4381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66700" cy="438150"/>
            </a:xfrm>
            <a:custGeom>
              <a:avLst/>
              <a:gdLst/>
              <a:ahLst/>
              <a:cxnLst/>
              <a:rect r="r" b="b" t="t" l="l"/>
              <a:pathLst>
                <a:path h="4381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68467" y="2820987"/>
            <a:ext cx="7990833" cy="4645026"/>
            <a:chOff x="0" y="0"/>
            <a:chExt cx="10654444" cy="619336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654444" cy="6193368"/>
              <a:chOff x="0" y="0"/>
              <a:chExt cx="2230080" cy="129633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230080" cy="1296333"/>
              </a:xfrm>
              <a:custGeom>
                <a:avLst/>
                <a:gdLst/>
                <a:ahLst/>
                <a:cxnLst/>
                <a:rect r="r" b="b" t="t" l="l"/>
                <a:pathLst>
                  <a:path h="1296333" w="2230080">
                    <a:moveTo>
                      <a:pt x="16470" y="0"/>
                    </a:moveTo>
                    <a:lnTo>
                      <a:pt x="2213609" y="0"/>
                    </a:lnTo>
                    <a:cubicBezTo>
                      <a:pt x="2217978" y="0"/>
                      <a:pt x="2222167" y="1735"/>
                      <a:pt x="2225256" y="4824"/>
                    </a:cubicBezTo>
                    <a:cubicBezTo>
                      <a:pt x="2228344" y="7913"/>
                      <a:pt x="2230080" y="12102"/>
                      <a:pt x="2230080" y="16470"/>
                    </a:cubicBezTo>
                    <a:lnTo>
                      <a:pt x="2230080" y="1279862"/>
                    </a:lnTo>
                    <a:cubicBezTo>
                      <a:pt x="2230080" y="1284231"/>
                      <a:pt x="2228344" y="1288420"/>
                      <a:pt x="2225256" y="1291509"/>
                    </a:cubicBezTo>
                    <a:cubicBezTo>
                      <a:pt x="2222167" y="1294597"/>
                      <a:pt x="2217978" y="1296333"/>
                      <a:pt x="2213609" y="1296333"/>
                    </a:cubicBezTo>
                    <a:lnTo>
                      <a:pt x="16470" y="1296333"/>
                    </a:lnTo>
                    <a:cubicBezTo>
                      <a:pt x="12102" y="1296333"/>
                      <a:pt x="7913" y="1294597"/>
                      <a:pt x="4824" y="1291509"/>
                    </a:cubicBezTo>
                    <a:cubicBezTo>
                      <a:pt x="1735" y="1288420"/>
                      <a:pt x="0" y="1284231"/>
                      <a:pt x="0" y="1279862"/>
                    </a:cubicBezTo>
                    <a:lnTo>
                      <a:pt x="0" y="16470"/>
                    </a:lnTo>
                    <a:cubicBezTo>
                      <a:pt x="0" y="12102"/>
                      <a:pt x="1735" y="7913"/>
                      <a:pt x="4824" y="4824"/>
                    </a:cubicBezTo>
                    <a:cubicBezTo>
                      <a:pt x="7913" y="1735"/>
                      <a:pt x="12102" y="0"/>
                      <a:pt x="164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94A3B8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0"/>
                <a:ext cx="2230080" cy="1391583"/>
              </a:xfrm>
              <a:prstGeom prst="rect">
                <a:avLst/>
              </a:prstGeom>
            </p:spPr>
            <p:txBody>
              <a:bodyPr anchor="ctr" rtlCol="false" tIns="47941" lIns="47941" bIns="47941" rIns="47941"/>
              <a:lstStyle/>
              <a:p>
                <a:pPr algn="ctr">
                  <a:lnSpc>
                    <a:spcPts val="3960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217109" y="199888"/>
              <a:ext cx="10220226" cy="5793591"/>
            </a:xfrm>
            <a:custGeom>
              <a:avLst/>
              <a:gdLst/>
              <a:ahLst/>
              <a:cxnLst/>
              <a:rect r="r" b="b" t="t" l="l"/>
              <a:pathLst>
                <a:path h="5793591" w="10220226">
                  <a:moveTo>
                    <a:pt x="0" y="0"/>
                  </a:moveTo>
                  <a:lnTo>
                    <a:pt x="10220226" y="0"/>
                  </a:lnTo>
                  <a:lnTo>
                    <a:pt x="10220226" y="5793591"/>
                  </a:lnTo>
                  <a:lnTo>
                    <a:pt x="0" y="5793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43000" y="2044541"/>
            <a:ext cx="6365133" cy="89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most alarming anomaly in the dataset is tied directly to promotional discounting campaigns.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1625" y="3205321"/>
            <a:ext cx="5936508" cy="135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Orders with a </a:t>
            </a:r>
            <a:r>
              <a:rPr lang="en-US" sz="2275" b="true">
                <a:solidFill>
                  <a:srgbClr val="A855F7"/>
                </a:solidFill>
                <a:latin typeface="Lato Bold"/>
                <a:ea typeface="Lato Bold"/>
                <a:cs typeface="Lato Bold"/>
                <a:sym typeface="Lato Bold"/>
              </a:rPr>
              <a:t>Medium Discount (11-30%)</a:t>
            </a: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2275" b="true">
                <a:solidFill>
                  <a:srgbClr val="A855F7"/>
                </a:solidFill>
                <a:latin typeface="Lato Bold"/>
                <a:ea typeface="Lato Bold"/>
                <a:cs typeface="Lato Bold"/>
                <a:sym typeface="Lato Bold"/>
              </a:rPr>
              <a:t>High Discount (&gt;30%)</a:t>
            </a: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suffer a catastrophic </a:t>
            </a:r>
            <a:r>
              <a:rPr lang="en-US" sz="2275" b="true">
                <a:solidFill>
                  <a:srgbClr val="475569"/>
                </a:solidFill>
                <a:latin typeface="Lato Bold"/>
                <a:ea typeface="Lato Bold"/>
                <a:cs typeface="Lato Bold"/>
                <a:sym typeface="Lato Bold"/>
              </a:rPr>
              <a:t>100% Late Delivery Rate</a:t>
            </a: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1625" y="4823301"/>
            <a:ext cx="5936508" cy="135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Conversely, orders with minimal discounts (0-10%) maintain a 50/50 chance of arriving on time.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981075"/>
            <a:ext cx="168021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The Promotional Bottleneck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6898186"/>
            <a:ext cx="6852266" cy="2249805"/>
            <a:chOff x="0" y="0"/>
            <a:chExt cx="9136354" cy="299974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136354" cy="2999740"/>
              <a:chOff x="0" y="0"/>
              <a:chExt cx="9136354" cy="2999740"/>
            </a:xfrm>
          </p:grpSpPr>
          <p:sp>
            <p:nvSpPr>
              <p:cNvPr name="Freeform 6" id="6" descr="image.png"/>
              <p:cNvSpPr/>
              <p:nvPr/>
            </p:nvSpPr>
            <p:spPr>
              <a:xfrm flipH="false" flipV="false" rot="0">
                <a:off x="0" y="0"/>
                <a:ext cx="9136354" cy="2999728"/>
              </a:xfrm>
              <a:custGeom>
                <a:avLst/>
                <a:gdLst/>
                <a:ahLst/>
                <a:cxnLst/>
                <a:rect r="r" b="b" t="t" l="l"/>
                <a:pathLst>
                  <a:path h="2999728" w="9136354">
                    <a:moveTo>
                      <a:pt x="0" y="0"/>
                    </a:moveTo>
                    <a:lnTo>
                      <a:pt x="9136354" y="0"/>
                    </a:lnTo>
                    <a:lnTo>
                      <a:pt x="9136354" y="2999728"/>
                    </a:lnTo>
                    <a:lnTo>
                      <a:pt x="0" y="299972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414" t="0" r="-2414" b="0"/>
                </a:stretch>
              </a:blip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517152" y="390525"/>
              <a:ext cx="8188242" cy="2132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2025" b="true">
                  <a:solidFill>
                    <a:srgbClr val="475569"/>
                  </a:solidFill>
                  <a:latin typeface="Lato Bold"/>
                  <a:ea typeface="Lato Bold"/>
                  <a:cs typeface="Lato Bold"/>
                  <a:sym typeface="Lato Bold"/>
                </a:rPr>
                <a:t>Business Implication:</a:t>
              </a:r>
              <a:r>
                <a:rPr lang="en-US" sz="2025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Without proactive tracking updates, the customer care center becomes a reactive bottleneck, exponentially increasing operational overhead per delayed package.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323012"/>
            <a:ext cx="200025" cy="328612"/>
            <a:chOff x="0" y="0"/>
            <a:chExt cx="266700" cy="4381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66700" cy="438150"/>
            </a:xfrm>
            <a:custGeom>
              <a:avLst/>
              <a:gdLst/>
              <a:ahLst/>
              <a:cxnLst/>
              <a:rect r="r" b="b" t="t" l="l"/>
              <a:pathLst>
                <a:path h="4381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4940992"/>
            <a:ext cx="181003" cy="328612"/>
            <a:chOff x="0" y="0"/>
            <a:chExt cx="241338" cy="4381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41338" cy="438150"/>
            </a:xfrm>
            <a:custGeom>
              <a:avLst/>
              <a:gdLst/>
              <a:ahLst/>
              <a:cxnLst/>
              <a:rect r="r" b="b" t="t" l="l"/>
              <a:pathLst>
                <a:path h="438150" w="241338">
                  <a:moveTo>
                    <a:pt x="0" y="0"/>
                  </a:moveTo>
                  <a:lnTo>
                    <a:pt x="241338" y="0"/>
                  </a:lnTo>
                  <a:lnTo>
                    <a:pt x="241338" y="438150"/>
                  </a:lnTo>
                  <a:lnTo>
                    <a:pt x="0" y="43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254" t="0" r="-525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038407"/>
            <a:ext cx="6852266" cy="89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Operational costs skyrocket due to customer friction caused by uncommunicated delays.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7325" y="3199187"/>
            <a:ext cx="6423641" cy="135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Customers experiencing late deliveries consistently drive the highest volume of inbound support inquiries.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6564" y="4817167"/>
            <a:ext cx="6464401" cy="135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distribution peaks at </a:t>
            </a:r>
            <a:r>
              <a:rPr lang="en-US" sz="2275" b="true">
                <a:solidFill>
                  <a:srgbClr val="475569"/>
                </a:solidFill>
                <a:latin typeface="Lato Bold"/>
                <a:ea typeface="Lato Bold"/>
                <a:cs typeface="Lato Bold"/>
                <a:sym typeface="Lato Bold"/>
              </a:rPr>
              <a:t>3 to 4 customer care calls per delayed order</a:t>
            </a:r>
            <a:r>
              <a:rPr lang="en-US" sz="2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absorbing massive human resources.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81075"/>
            <a:ext cx="168021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The Cost of Delays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68467" y="2618479"/>
            <a:ext cx="7990833" cy="4645026"/>
            <a:chOff x="0" y="0"/>
            <a:chExt cx="10654444" cy="619336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654444" cy="6193368"/>
              <a:chOff x="0" y="0"/>
              <a:chExt cx="2230080" cy="129633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30080" cy="1296333"/>
              </a:xfrm>
              <a:custGeom>
                <a:avLst/>
                <a:gdLst/>
                <a:ahLst/>
                <a:cxnLst/>
                <a:rect r="r" b="b" t="t" l="l"/>
                <a:pathLst>
                  <a:path h="1296333" w="2230080">
                    <a:moveTo>
                      <a:pt x="16470" y="0"/>
                    </a:moveTo>
                    <a:lnTo>
                      <a:pt x="2213609" y="0"/>
                    </a:lnTo>
                    <a:cubicBezTo>
                      <a:pt x="2217978" y="0"/>
                      <a:pt x="2222167" y="1735"/>
                      <a:pt x="2225256" y="4824"/>
                    </a:cubicBezTo>
                    <a:cubicBezTo>
                      <a:pt x="2228344" y="7913"/>
                      <a:pt x="2230080" y="12102"/>
                      <a:pt x="2230080" y="16470"/>
                    </a:cubicBezTo>
                    <a:lnTo>
                      <a:pt x="2230080" y="1279862"/>
                    </a:lnTo>
                    <a:cubicBezTo>
                      <a:pt x="2230080" y="1284231"/>
                      <a:pt x="2228344" y="1288420"/>
                      <a:pt x="2225256" y="1291509"/>
                    </a:cubicBezTo>
                    <a:cubicBezTo>
                      <a:pt x="2222167" y="1294597"/>
                      <a:pt x="2217978" y="1296333"/>
                      <a:pt x="2213609" y="1296333"/>
                    </a:cubicBezTo>
                    <a:lnTo>
                      <a:pt x="16470" y="1296333"/>
                    </a:lnTo>
                    <a:cubicBezTo>
                      <a:pt x="12102" y="1296333"/>
                      <a:pt x="7913" y="1294597"/>
                      <a:pt x="4824" y="1291509"/>
                    </a:cubicBezTo>
                    <a:cubicBezTo>
                      <a:pt x="1735" y="1288420"/>
                      <a:pt x="0" y="1284231"/>
                      <a:pt x="0" y="1279862"/>
                    </a:cubicBezTo>
                    <a:lnTo>
                      <a:pt x="0" y="16470"/>
                    </a:lnTo>
                    <a:cubicBezTo>
                      <a:pt x="0" y="12102"/>
                      <a:pt x="1735" y="7913"/>
                      <a:pt x="4824" y="4824"/>
                    </a:cubicBezTo>
                    <a:cubicBezTo>
                      <a:pt x="7913" y="1735"/>
                      <a:pt x="12102" y="0"/>
                      <a:pt x="164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94A3B8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0"/>
                <a:ext cx="2230080" cy="1391583"/>
              </a:xfrm>
              <a:prstGeom prst="rect">
                <a:avLst/>
              </a:prstGeom>
            </p:spPr>
            <p:txBody>
              <a:bodyPr anchor="ctr" rtlCol="false" tIns="47941" lIns="47941" bIns="47941" rIns="47941"/>
              <a:lstStyle/>
              <a:p>
                <a:pPr algn="ctr">
                  <a:lnSpc>
                    <a:spcPts val="3960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244870" y="174331"/>
              <a:ext cx="10164705" cy="5844705"/>
            </a:xfrm>
            <a:custGeom>
              <a:avLst/>
              <a:gdLst/>
              <a:ahLst/>
              <a:cxnLst/>
              <a:rect r="r" b="b" t="t" l="l"/>
              <a:pathLst>
                <a:path h="5844705" w="10164705">
                  <a:moveTo>
                    <a:pt x="0" y="0"/>
                  </a:moveTo>
                  <a:lnTo>
                    <a:pt x="10164704" y="0"/>
                  </a:lnTo>
                  <a:lnTo>
                    <a:pt x="10164704" y="5844705"/>
                  </a:lnTo>
                  <a:lnTo>
                    <a:pt x="0" y="5844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2880493"/>
            <a:ext cx="4953076" cy="6026201"/>
            <a:chOff x="0" y="0"/>
            <a:chExt cx="6604102" cy="8034934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604127" cy="8034909"/>
            </a:xfrm>
            <a:custGeom>
              <a:avLst/>
              <a:gdLst/>
              <a:ahLst/>
              <a:cxnLst/>
              <a:rect r="r" b="b" t="t" l="l"/>
              <a:pathLst>
                <a:path h="8034909" w="6604127">
                  <a:moveTo>
                    <a:pt x="0" y="0"/>
                  </a:moveTo>
                  <a:lnTo>
                    <a:pt x="6604127" y="0"/>
                  </a:lnTo>
                  <a:lnTo>
                    <a:pt x="6604127" y="8034909"/>
                  </a:lnTo>
                  <a:lnTo>
                    <a:pt x="0" y="8034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7" r="0" b="-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76" y="2880493"/>
            <a:ext cx="4953076" cy="6026201"/>
            <a:chOff x="0" y="0"/>
            <a:chExt cx="6604102" cy="803493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604127" cy="8034909"/>
            </a:xfrm>
            <a:custGeom>
              <a:avLst/>
              <a:gdLst/>
              <a:ahLst/>
              <a:cxnLst/>
              <a:rect r="r" b="b" t="t" l="l"/>
              <a:pathLst>
                <a:path h="8034909" w="6604127">
                  <a:moveTo>
                    <a:pt x="0" y="0"/>
                  </a:moveTo>
                  <a:lnTo>
                    <a:pt x="6604127" y="0"/>
                  </a:lnTo>
                  <a:lnTo>
                    <a:pt x="6604127" y="8034909"/>
                  </a:lnTo>
                  <a:lnTo>
                    <a:pt x="0" y="8034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t="0" r="-4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92152" y="2880493"/>
            <a:ext cx="4953076" cy="6026201"/>
            <a:chOff x="0" y="0"/>
            <a:chExt cx="6604102" cy="803493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604127" cy="8034909"/>
            </a:xfrm>
            <a:custGeom>
              <a:avLst/>
              <a:gdLst/>
              <a:ahLst/>
              <a:cxnLst/>
              <a:rect r="r" b="b" t="t" l="l"/>
              <a:pathLst>
                <a:path h="8034909" w="6604127">
                  <a:moveTo>
                    <a:pt x="0" y="0"/>
                  </a:moveTo>
                  <a:lnTo>
                    <a:pt x="6604127" y="0"/>
                  </a:lnTo>
                  <a:lnTo>
                    <a:pt x="6604127" y="8034909"/>
                  </a:lnTo>
                  <a:lnTo>
                    <a:pt x="0" y="8034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6" t="0" r="-4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28788" y="4609281"/>
            <a:ext cx="397057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1. Overhaul Promotional Routing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8788" y="5766568"/>
            <a:ext cx="3781501" cy="244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Investigate warehouse algorithms immediately. Separate fulfillment pipelines must be established during marketing campaigns to prevent 100% SLA failure on discounted items.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53364" y="4609281"/>
            <a:ext cx="397057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2. Audit "High Priority" SLA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53364" y="5766568"/>
            <a:ext cx="3781501" cy="284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Temporarily suspend "High Priority" offerings for Ship and Road freight until carriers can guarantee SLAs. Shifting critical items exclusively to Air freight may be necessary to salvage trust.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77940" y="4609281"/>
            <a:ext cx="397057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E293B"/>
                </a:solidFill>
                <a:latin typeface="Poppins Bold"/>
                <a:ea typeface="Poppins Bold"/>
                <a:cs typeface="Poppins Bold"/>
                <a:sym typeface="Poppins Bold"/>
              </a:rPr>
              <a:t>3. Proactive CS Deflection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77940" y="5766568"/>
            <a:ext cx="3781501" cy="244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reduce the massive cost of 44,000+ support calls, implement automated, proactive SMS/Email delay notifications. Customers call less when preemptively informed of delays.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28788" y="3537718"/>
            <a:ext cx="685800" cy="685800"/>
            <a:chOff x="0" y="0"/>
            <a:chExt cx="914400" cy="914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41" r="0" b="-104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253364" y="3537718"/>
            <a:ext cx="857250" cy="685800"/>
            <a:chOff x="0" y="0"/>
            <a:chExt cx="11430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143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05" r="0" b="-20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777940" y="3537718"/>
            <a:ext cx="685800" cy="685800"/>
            <a:chOff x="0" y="0"/>
            <a:chExt cx="914400" cy="914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8700" y="981075"/>
            <a:ext cx="168021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Data-Driven Strategic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42950" y="981075"/>
            <a:ext cx="168021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495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06676" y="2546873"/>
            <a:ext cx="14074648" cy="5913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352" indent="-267176" lvl="1">
              <a:lnSpc>
                <a:spcPts val="3960"/>
              </a:lnSpc>
              <a:buFont typeface="Arial"/>
              <a:buChar char="•"/>
            </a:pPr>
            <a:r>
              <a:rPr lang="en-US" b="true" sz="2475">
                <a:solidFill>
                  <a:srgbClr val="475569"/>
                </a:solidFill>
                <a:latin typeface="Lato Bold"/>
                <a:ea typeface="Lato Bold"/>
                <a:cs typeface="Lato Bold"/>
                <a:sym typeface="Lato Bold"/>
              </a:rPr>
              <a:t>The Core Bottleneck:</a:t>
            </a: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"High Priority" shipments routed via Ship and Road are failing to meet Service Level Agreements (SLAs), suffering the highest late delivery rates at over 65%.</a:t>
            </a:r>
          </a:p>
          <a:p>
            <a:pPr algn="l">
              <a:lnSpc>
                <a:spcPts val="3960"/>
              </a:lnSpc>
            </a:pPr>
          </a:p>
          <a:p>
            <a:pPr algn="l" marL="534352" indent="-267176" lvl="1">
              <a:lnSpc>
                <a:spcPts val="3960"/>
              </a:lnSpc>
              <a:buFont typeface="Arial"/>
              <a:buChar char="•"/>
            </a:pPr>
            <a:r>
              <a:rPr lang="en-US" b="true" sz="2475">
                <a:solidFill>
                  <a:srgbClr val="475569"/>
                </a:solidFill>
                <a:latin typeface="Lato Bold"/>
                <a:ea typeface="Lato Bold"/>
                <a:cs typeface="Lato Bold"/>
                <a:sym typeface="Lato Bold"/>
              </a:rPr>
              <a:t>The "Discount" Trap:</a:t>
            </a: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Order volume spikes from promotional discounts above 10% completely overwhelm fulfillment capacity, resulting in a catastrophic 100% late delivery rate for those items.</a:t>
            </a:r>
          </a:p>
          <a:p>
            <a:pPr algn="l">
              <a:lnSpc>
                <a:spcPts val="3960"/>
              </a:lnSpc>
            </a:pPr>
          </a:p>
          <a:p>
            <a:pPr algn="l" marL="534352" indent="-267176" lvl="1">
              <a:lnSpc>
                <a:spcPts val="3960"/>
              </a:lnSpc>
              <a:buFont typeface="Arial"/>
              <a:buChar char="•"/>
            </a:pPr>
            <a:r>
              <a:rPr lang="en-US" b="true" sz="2475">
                <a:solidFill>
                  <a:srgbClr val="475569"/>
                </a:solidFill>
                <a:latin typeface="Lato Bold"/>
                <a:ea typeface="Lato Bold"/>
                <a:cs typeface="Lato Bold"/>
                <a:sym typeface="Lato Bold"/>
              </a:rPr>
              <a:t>The Operational Cost:</a:t>
            </a: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domino effect of these delays creates a massive financial burden, driving over 44,000 inbound customer care calls as customers react to uncommunicated fulfillment issues.</a:t>
            </a:r>
          </a:p>
          <a:p>
            <a:pPr algn="l">
              <a:lnSpc>
                <a:spcPts val="3960"/>
              </a:lnSpc>
            </a:pPr>
          </a:p>
          <a:p>
            <a:pPr algn="l" marL="534352" indent="-267176" lvl="1">
              <a:lnSpc>
                <a:spcPts val="3960"/>
              </a:lnSpc>
              <a:buFont typeface="Arial"/>
              <a:buChar char="•"/>
            </a:pPr>
            <a:r>
              <a:rPr lang="en-US" b="true" sz="2475">
                <a:solidFill>
                  <a:srgbClr val="475569"/>
                </a:solidFill>
                <a:latin typeface="Lato Bold"/>
                <a:ea typeface="Lato Bold"/>
                <a:cs typeface="Lato Bold"/>
                <a:sym typeface="Lato Bold"/>
              </a:rPr>
              <a:t>The Strategic Fix:</a:t>
            </a:r>
            <a:r>
              <a:rPr lang="en-US" sz="24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By fixing prioritization logic and implementing proactive communication, we can rapidly recover Customer Satisfaction while cutting operational support costs.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5850" y="981075"/>
            <a:ext cx="161163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495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Explore the Full Project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151909" y="2743072"/>
            <a:ext cx="7984182" cy="5986919"/>
            <a:chOff x="0" y="0"/>
            <a:chExt cx="10645575" cy="798255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23825"/>
              <a:ext cx="10368699" cy="57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5"/>
                </a:lnSpc>
              </a:pPr>
              <a:r>
                <a:rPr lang="en-US" b="true" sz="2258">
                  <a:solidFill>
                    <a:srgbClr val="20212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DATASET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92471"/>
              <a:ext cx="10368699" cy="1069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60"/>
                </a:lnSpc>
              </a:pPr>
              <a:r>
                <a:rPr lang="en-US" sz="2000" u="sng">
                  <a:solidFill>
                    <a:srgbClr val="1A73E8"/>
                  </a:solidFill>
                  <a:latin typeface="Poppins"/>
                  <a:ea typeface="Poppins"/>
                  <a:cs typeface="Poppins"/>
                  <a:sym typeface="Poppins"/>
                  <a:hlinkClick r:id="rId2" tooltip="https://docs.google.com/spreadsheets/d/1I5bWdn3f6qGWsPNl63Y63PZEWlI40LFcdfmLyGDjiW8/edit?usp=sharing"/>
                </a:rPr>
                <a:t>https://docs.google.com/spreadsheets/d/1I5bWdn3f6qGWsPNl63Y63PZEWlI40LFcdfmLyGDjiW8/edit?usp=sharing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427749"/>
              <a:ext cx="10368699" cy="57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5"/>
                </a:lnSpc>
              </a:pPr>
              <a:r>
                <a:rPr lang="en-US" b="true" sz="2258">
                  <a:solidFill>
                    <a:srgbClr val="20212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TABLEAU PUBLIC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244045"/>
              <a:ext cx="10645575" cy="2186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60"/>
                </a:lnSpc>
              </a:pPr>
              <a:r>
                <a:rPr lang="en-US" sz="2000" u="sng">
                  <a:solidFill>
                    <a:srgbClr val="1A73E8"/>
                  </a:solidFill>
                  <a:latin typeface="Poppins"/>
                  <a:ea typeface="Poppins"/>
                  <a:cs typeface="Poppins"/>
                  <a:sym typeface="Poppins"/>
                  <a:hlinkClick r:id="rId3" tooltip="https://public.tableau.com/views/E-commerceSupplyChain/Dashboard?:language=en-US&amp;:sid=&amp;:redirect=auth&amp;:display_count=n&amp;:origin=viz_share_link"/>
                </a:rPr>
                <a:t>https://public.tableau.com/views/E-commerceSupplyChain/Dashboard?:language=en-US&amp;:sid=&amp;:redirect=auth&amp;:display_count=n&amp;:origin=viz_share_link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096923"/>
              <a:ext cx="10368699" cy="57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5"/>
                </a:lnSpc>
              </a:pPr>
              <a:r>
                <a:rPr lang="en-US" b="true" sz="2258">
                  <a:solidFill>
                    <a:srgbClr val="20212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GITHUB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913219"/>
              <a:ext cx="10368699" cy="1069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60"/>
                </a:lnSpc>
              </a:pPr>
              <a:r>
                <a:rPr lang="en-US" sz="2000" u="sng">
                  <a:solidFill>
                    <a:srgbClr val="1A73E8"/>
                  </a:solidFill>
                  <a:latin typeface="Poppins"/>
                  <a:ea typeface="Poppins"/>
                  <a:cs typeface="Poppins"/>
                  <a:sym typeface="Poppins"/>
                  <a:hlinkClick r:id="rId4" tooltip="https://github.com/davidsebastianart/ecommerce-delivery-performance-audit"/>
                </a:rPr>
                <a:t>https://github.com/davidsebastianart/ecommerce-delivery-performance-audit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5850" y="4719637"/>
            <a:ext cx="1611630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495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DAHQNE-cHLk</dc:identifier>
  <dcterms:modified xsi:type="dcterms:W3CDTF">2011-08-01T06:04:30Z</dcterms:modified>
  <cp:revision>1</cp:revision>
  <dc:title>Supply Chain Delivery Audit</dc:title>
</cp:coreProperties>
</file>